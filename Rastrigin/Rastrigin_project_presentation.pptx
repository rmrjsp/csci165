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2628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10144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822960"/>
            <a:ext cx="10241280" cy="4297680"/>
          </a:xfrm>
          <a:prstGeom prst="roundRect">
            <a:avLst>
              <a:gd name="adj" fmla="val 1277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" y="822960"/>
            <a:ext cx="201168" cy="4297680"/>
          </a:xfrm>
          <a:prstGeom prst="rect">
            <a:avLst/>
          </a:prstGeom>
          <a:solidFill>
            <a:srgbClr val="3B5DC9"/>
          </a:solidFill>
          <a:ln w="12700">
            <a:solidFill>
              <a:srgbClr val="3B5DC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43000" y="1325880"/>
            <a:ext cx="9052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B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Gradient Descent vs Simulated Annealing on Rastrigin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70432" y="276148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28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Comparing local optimization and stochastic search on a multimodal landscape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70432" y="3749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3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CSCI 165 project presentation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5C6370"/>
                </a:solidFill>
                <a:latin typeface="Aptos" pitchFamily="34" charset="0"/>
              </a:rPr>
              <a:t>By: Hugo Rodriguez and Ramraj Panesar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B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Motivation And Problem Statement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1060704"/>
            <a:ext cx="2103120" cy="45720"/>
          </a:xfrm>
          <a:prstGeom prst="rect">
            <a:avLst/>
          </a:prstGeom>
          <a:solidFill>
            <a:srgbClr val="3B5DC9"/>
          </a:solidFill>
          <a:ln w="12700">
            <a:solidFill>
              <a:srgbClr val="3B5DC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4892040" cy="4983480"/>
          </a:xfrm>
          <a:prstGeom prst="roundRect">
            <a:avLst>
              <a:gd name="adj" fmla="val 1121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577840" y="1417320"/>
            <a:ext cx="4800600" cy="4983480"/>
          </a:xfrm>
          <a:prstGeom prst="roundRect">
            <a:avLst>
              <a:gd name="adj" fmla="val 1143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68249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B5DC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Domain Matters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833872" y="168249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B5DC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Addressed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41248" y="2084832"/>
            <a:ext cx="4343400" cy="3977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B2B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Optimization appears in machine learning, engineering design, planning, and scientific computing.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B2B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Rastrigin is a standard benchmark because it has many local minima but a known global optimum.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B2B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is a good test of whether a method exploits quickly or explores broadly.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797296" y="2084832"/>
            <a:ext cx="4206240" cy="3977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B2B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Minimize the 2D Rastrigin function over the bounded domain [-5.12, 5.12].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B2B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three gradient descent variants against simulated annealing.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B2B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 whether each method can reliably reach or closely approach the global minimum f(0,0) = 0.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B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Background And Approach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1060704"/>
            <a:ext cx="2103120" cy="45720"/>
          </a:xfrm>
          <a:prstGeom prst="rect">
            <a:avLst/>
          </a:prstGeom>
          <a:solidFill>
            <a:srgbClr val="3B5DC9"/>
          </a:solidFill>
          <a:ln w="12700">
            <a:solidFill>
              <a:srgbClr val="3B5DC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4892040" cy="4983480"/>
          </a:xfrm>
          <a:prstGeom prst="roundRect">
            <a:avLst>
              <a:gd name="adj" fmla="val 1121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577840" y="1417320"/>
            <a:ext cx="4800600" cy="4983480"/>
          </a:xfrm>
          <a:prstGeom prst="roundRect">
            <a:avLst>
              <a:gd name="adj" fmla="val 1143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68249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B5DC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Background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833872" y="168249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B5DC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Methods Used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41248" y="2084832"/>
            <a:ext cx="4343400" cy="3977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B2B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Rastrigin combines a quadratic bowl with cosine ripples, creating many deceptive local minima.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B2B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Gradient descent follows local slope information and can converge quickly with a suitable step schedule.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B2B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Simulated annealing accepts occasional worse moves early, which can help it escape local traps.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797296" y="2084832"/>
            <a:ext cx="4206240" cy="3977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B2B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GD Fixed: constant learning rate alpha = 0.01.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B2B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GD Decaying: alpha0 = 0.1 with decay = 0.001.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B2B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GD Momentum: alpha = 0.01 and beta = 0.9.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B2B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SA: T0 = 10, alpha = 0.995, step radius = 0.5.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B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Experiment Setup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1060704"/>
            <a:ext cx="2103120" cy="45720"/>
          </a:xfrm>
          <a:prstGeom prst="rect">
            <a:avLst/>
          </a:prstGeom>
          <a:solidFill>
            <a:srgbClr val="3B5DC9"/>
          </a:solidFill>
          <a:ln w="12700">
            <a:solidFill>
              <a:srgbClr val="3B5DC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0058400" cy="4983480"/>
          </a:xfrm>
          <a:prstGeom prst="roundRect">
            <a:avLst>
              <a:gd name="adj" fmla="val 1101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755648"/>
            <a:ext cx="9326880" cy="43891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B2B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 runs per algorithm from shared random starting points across the full domain.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B2B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Maximum of 5000 iterations for every method.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B2B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Success threshold: f(x) &lt; 1e-3 counts as reaching the global minimum.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B2B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Metrics: best objective value, success rate, distance to optimum, and runtime.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B2B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Using the same starting points across algorithms kept the comparison fair.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B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Evaluation Results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9692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3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Summary across 30 repeated trials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2103120" cy="45720"/>
          </a:xfrm>
          <a:prstGeom prst="rect">
            <a:avLst/>
          </a:prstGeom>
          <a:solidFill>
            <a:srgbClr val="3B5DC9"/>
          </a:solidFill>
          <a:ln w="12700">
            <a:solidFill>
              <a:srgbClr val="3B5DC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81328"/>
          <a:ext cx="10149840" cy="4709160"/>
        </p:xfrm>
        <a:graphic>
          <a:graphicData uri="http://schemas.openxmlformats.org/drawingml/2006/table">
            <a:tbl>
              <a:tblPr/>
              <a:tblGrid>
                <a:gridCol w="20299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99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299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299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299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Algorithm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D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Mean f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D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Best f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D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Success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D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Time (ms)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D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GD_Fixed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16.276971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1.056586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0/30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35.8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GD_Decaying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1e-06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1e-06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30/30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35.96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GD_Momentum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17.505351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1.183217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0/30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39.4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SA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8.487813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0.007676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0/30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13.01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B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Landscape And Search Behavior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1060704"/>
            <a:ext cx="2103120" cy="45720"/>
          </a:xfrm>
          <a:prstGeom prst="rect">
            <a:avLst/>
          </a:prstGeom>
          <a:solidFill>
            <a:srgbClr val="3B5DC9"/>
          </a:solidFill>
          <a:ln w="12700">
            <a:solidFill>
              <a:srgbClr val="3B5DC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457200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669280" y="1463040"/>
            <a:ext cx="457200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C:\CSCI165\Rastrigin\figures\rastrigin_contou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1664208"/>
            <a:ext cx="4279392" cy="3611880"/>
          </a:xfrm>
          <a:prstGeom prst="rect">
            <a:avLst/>
          </a:prstGeom>
        </p:spPr>
      </p:pic>
      <p:pic>
        <p:nvPicPr>
          <p:cNvPr id="7" name="Image 1" descr="C:\CSCI165\Rastrigin\figures\trajectori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5584" y="1664208"/>
            <a:ext cx="4279392" cy="36118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9808" y="5413248"/>
            <a:ext cx="4352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3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contour plot shows the highly multimodal landscape around the global minimum.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5779008" y="5413248"/>
            <a:ext cx="4352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3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Trajectory plots show the contrast between direct descent and exploratory stochastic search.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B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Convergence And Result Distribution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1060704"/>
            <a:ext cx="2103120" cy="45720"/>
          </a:xfrm>
          <a:prstGeom prst="rect">
            <a:avLst/>
          </a:prstGeom>
          <a:solidFill>
            <a:srgbClr val="3B5DC9"/>
          </a:solidFill>
          <a:ln w="12700">
            <a:solidFill>
              <a:srgbClr val="3B5DC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457200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669280" y="1463040"/>
            <a:ext cx="457200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C:\CSCI165\Rastrigin\figures\convergence_p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1664208"/>
            <a:ext cx="4279392" cy="3611880"/>
          </a:xfrm>
          <a:prstGeom prst="rect">
            <a:avLst/>
          </a:prstGeom>
        </p:spPr>
      </p:pic>
      <p:pic>
        <p:nvPicPr>
          <p:cNvPr id="7" name="Image 1" descr="C:\CSCI165\Rastrigin\figures\boxpl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5584" y="1664208"/>
            <a:ext cx="4279392" cy="36118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9808" y="5413248"/>
            <a:ext cx="4352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3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Decaying GD converged consistently to near-zero values across all runs.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5779008" y="5413248"/>
            <a:ext cx="4352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3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Fixed GD and momentum were less reliable, while SA often got close without crossing the strict success threshold.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B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Conclusions And Future Work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1060704"/>
            <a:ext cx="2103120" cy="45720"/>
          </a:xfrm>
          <a:prstGeom prst="rect">
            <a:avLst/>
          </a:prstGeom>
          <a:solidFill>
            <a:srgbClr val="3B5DC9"/>
          </a:solidFill>
          <a:ln w="12700">
            <a:solidFill>
              <a:srgbClr val="3B5DC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0058400" cy="4983480"/>
          </a:xfrm>
          <a:prstGeom prst="roundRect">
            <a:avLst>
              <a:gd name="adj" fmla="val 1101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755648"/>
            <a:ext cx="9326880" cy="43891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B2B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best overall performer was decaying gradient descent, which achieved 30/30 successes with mean f approximately 1e-6.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B2B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Simulated annealing improved exploration and found near-optimal points, but under this schedule it did not satisfy the strict success threshold in any run.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B2B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Fixed learning rate and momentum were vulnerable to local minima despite reasonable runtimes.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B2B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 work: tune the annealing schedule, test additional benchmark functions, and examine higher-dimensional Rastrigin settings.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493</Words>
  <Application>Microsoft Office PowerPoint</Application>
  <PresentationFormat>Widescreen</PresentationFormat>
  <Paragraphs>75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Rastrigin project presentation</dc:title>
  <dc:subject>Rastrigin project presentation</dc:subject>
  <dc:creator>OpenAI Codex</dc:creator>
  <cp:lastModifiedBy>Ramraj Panesar</cp:lastModifiedBy>
  <cp:revision>2</cp:revision>
  <dcterms:created xsi:type="dcterms:W3CDTF">2026-05-07T00:08:27Z</dcterms:created>
  <dcterms:modified xsi:type="dcterms:W3CDTF">2026-05-07T00:19:04Z</dcterms:modified>
</cp:coreProperties>
</file>